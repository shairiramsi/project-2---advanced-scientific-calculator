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61" r:id="rId6"/>
    <p:sldId id="260" r:id="rId7"/>
    <p:sldId id="269" r:id="rId8"/>
    <p:sldId id="270" r:id="rId9"/>
    <p:sldId id="271" r:id="rId10"/>
    <p:sldId id="2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076DF60-1C97-4F28-B6F3-2899B64B7FB3}">
          <p14:sldIdLst>
            <p14:sldId id="256"/>
            <p14:sldId id="259"/>
            <p14:sldId id="257"/>
            <p14:sldId id="261"/>
            <p14:sldId id="260"/>
            <p14:sldId id="269"/>
            <p14:sldId id="270"/>
            <p14:sldId id="271"/>
            <p14:sldId id="27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6E52F-EC5C-45AF-9F01-96C89B8BD203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5E2C920-4D5C-4BCA-B4C8-3E555A42279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hyperlink" Target="https://docs.python.org/3/library/tkinter.html" TargetMode="Externa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2455" y="628650"/>
            <a:ext cx="10912475" cy="2459990"/>
          </a:xfrm>
        </p:spPr>
        <p:txBody>
          <a:bodyPr>
            <a:noAutofit/>
          </a:bodyPr>
          <a:lstStyle/>
          <a:p>
            <a:pPr algn="l"/>
            <a:r>
              <a:rPr lang="en-US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Project on </a:t>
            </a:r>
            <a:r>
              <a:rPr lang="en-US" b="1" i="1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 </a:t>
            </a:r>
            <a:br>
              <a:rPr lang="en-US" b="1" i="1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</a:br>
            <a:r>
              <a:rPr lang="en-US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Advanced -</a:t>
            </a:r>
            <a:r>
              <a:rPr lang="en-US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Scientific -Calculator!  </a:t>
            </a:r>
            <a:endParaRPr lang="en-US" b="1" i="1" u="sng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7975" y="4777105"/>
            <a:ext cx="6116955" cy="1126490"/>
          </a:xfr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 algn="r"/>
            <a:r>
              <a:rPr lang="en-US" sz="4400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Submitted By </a:t>
            </a:r>
            <a:r>
              <a:rPr lang="en-US" sz="4400" b="1" i="1" u="sng" dirty="0" err="1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Iram</a:t>
            </a:r>
            <a:r>
              <a:rPr lang="en-US" sz="4400" b="1" i="1" u="sng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 </a:t>
            </a:r>
            <a:r>
              <a:rPr lang="en-US" sz="4400" b="1" i="1" u="sng" dirty="0" err="1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Shafi</a:t>
            </a:r>
            <a:endParaRPr lang="en-US" sz="4400" b="1" i="1" u="sng" dirty="0" err="1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latin typeface="Garamond" panose="02020404030301010803" pitchFamily="18" charset="0"/>
              </a:rPr>
              <a:t>Introduction to the project</a:t>
            </a:r>
            <a:endParaRPr lang="en-IN" b="1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45030"/>
            <a:ext cx="8915400" cy="377762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>
                <a:effectLst/>
                <a:latin typeface="Garamond" panose="02020404030301010803" pitchFamily="18" charset="0"/>
              </a:rPr>
              <a:t>A </a:t>
            </a:r>
            <a:r>
              <a:rPr lang="en-US" sz="2400" b="1" dirty="0">
                <a:effectLst/>
                <a:latin typeface="Garamond" panose="02020404030301010803" pitchFamily="18" charset="0"/>
              </a:rPr>
              <a:t>Scientific Calculator</a:t>
            </a:r>
            <a:r>
              <a:rPr lang="en-US" sz="2400" dirty="0">
                <a:effectLst/>
                <a:latin typeface="Garamond" panose="02020404030301010803" pitchFamily="18" charset="0"/>
              </a:rPr>
              <a:t> project using Python’s </a:t>
            </a:r>
            <a:r>
              <a:rPr lang="en-US" sz="2400" b="1" dirty="0" err="1">
                <a:effectLst/>
                <a:latin typeface="Garamond" panose="02020404030301010803" pitchFamily="18" charset="0"/>
              </a:rPr>
              <a:t>Tkinter</a:t>
            </a:r>
            <a:r>
              <a:rPr lang="en-US" sz="2400" dirty="0">
                <a:effectLst/>
                <a:latin typeface="Garamond" panose="02020404030301010803" pitchFamily="18" charset="0"/>
              </a:rPr>
              <a:t> library is a foundational exercise for beginners to learn Graphical User Interface (GUI) development. </a:t>
            </a:r>
            <a:endParaRPr lang="en-US" sz="2400" dirty="0" smtClean="0">
              <a:effectLst/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effectLst/>
                <a:latin typeface="Garamond" panose="02020404030301010803" pitchFamily="18" charset="0"/>
              </a:rPr>
              <a:t>It </a:t>
            </a:r>
            <a:r>
              <a:rPr lang="en-US" sz="2400" dirty="0">
                <a:effectLst/>
                <a:latin typeface="Garamond" panose="02020404030301010803" pitchFamily="18" charset="0"/>
              </a:rPr>
              <a:t>combines backend logic (mathematical computations) with frontend design (interactive buttons and displays) to create a desktop application that can handle both basic arithmetic and advanced scientific operations like trigonometry and logarithms</a:t>
            </a:r>
            <a:r>
              <a:rPr lang="en-US" sz="2400" dirty="0" smtClean="0">
                <a:effectLst/>
                <a:latin typeface="Garamond" panose="02020404030301010803" pitchFamily="18" charset="0"/>
              </a:rPr>
              <a:t>.</a:t>
            </a:r>
            <a:endParaRPr lang="en-US" sz="2400" dirty="0" smtClean="0">
              <a:effectLst/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latin typeface="Garamond" panose="02020404030301010803" pitchFamily="18" charset="0"/>
              </a:rPr>
              <a:t>In this project I used </a:t>
            </a:r>
            <a:r>
              <a:rPr lang="en-US" sz="2400" dirty="0" err="1" smtClean="0">
                <a:latin typeface="Garamond" panose="02020404030301010803" pitchFamily="18" charset="0"/>
              </a:rPr>
              <a:t>tkinter</a:t>
            </a:r>
            <a:r>
              <a:rPr lang="en-US" sz="2400" dirty="0" smtClean="0">
                <a:latin typeface="Garamond" panose="02020404030301010803" pitchFamily="18" charset="0"/>
              </a:rPr>
              <a:t>, math, </a:t>
            </a:r>
            <a:r>
              <a:rPr lang="en-US" sz="2400" dirty="0" err="1" smtClean="0">
                <a:latin typeface="Garamond" panose="02020404030301010803" pitchFamily="18" charset="0"/>
              </a:rPr>
              <a:t>numpy</a:t>
            </a:r>
            <a:r>
              <a:rPr lang="en-US" sz="2400" dirty="0" smtClean="0">
                <a:latin typeface="Garamond" panose="02020404030301010803" pitchFamily="18" charset="0"/>
              </a:rPr>
              <a:t>, matplotlib etc. as a libraries to complete my project to create a better Advanced Scientific  Calculator.</a:t>
            </a:r>
            <a:endParaRPr lang="en-US" sz="2400" dirty="0" smtClean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3340" y="624205"/>
            <a:ext cx="10180955" cy="1280795"/>
          </a:xfrm>
        </p:spPr>
        <p:txBody>
          <a:bodyPr/>
          <a:lstStyle/>
          <a:p>
            <a:r>
              <a:rPr lang="en-US" b="1" u="sng" dirty="0" smtClean="0">
                <a:latin typeface="Garamond" panose="02020404030301010803" pitchFamily="18" charset="0"/>
              </a:rPr>
              <a:t>Project Objective</a:t>
            </a:r>
            <a:endParaRPr lang="en-IN" b="1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The primary goal of a </a:t>
            </a:r>
            <a:r>
              <a:rPr lang="en-US" sz="2400" b="1" dirty="0" err="1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Tkinter</a:t>
            </a:r>
            <a:r>
              <a:rPr lang="en-US" sz="2400" b="1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 Scientific Calculator</a:t>
            </a:r>
            <a:r>
              <a:rPr lang="en-US" sz="2400" dirty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 project is to bridge the gap between theoretical mathematical algorithms and practical software 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development.</a:t>
            </a:r>
            <a:endParaRPr lang="en-US" sz="2400" dirty="0" smtClean="0">
              <a:solidFill>
                <a:schemeClr val="tx1"/>
              </a:solidFill>
              <a:highlight>
                <a:srgbClr val="80808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The main objectives of a </a:t>
            </a:r>
            <a:r>
              <a:rPr lang="en-US" sz="2400" dirty="0" err="1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Tkinter</a:t>
            </a:r>
            <a:r>
              <a:rPr lang="en-US" sz="2400" dirty="0">
                <a:solidFill>
                  <a:schemeClr val="tx1"/>
                </a:solidFill>
                <a:effectLst/>
                <a:highlight>
                  <a:srgbClr val="808080"/>
                </a:highlight>
                <a:latin typeface="Garamond" panose="02020404030301010803" pitchFamily="18" charset="0"/>
              </a:rPr>
              <a:t> scientific calculator are </a:t>
            </a:r>
            <a:r>
              <a:rPr lang="en-US" sz="2400" dirty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to provide a user-friendly Graphical User Interface (GUI) for performing both basic arithmetic (addition, subtraction, multiplication, division) and advanced scientific calculations (trigonometry, logarithms, exponentiation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) and so on.</a:t>
            </a:r>
            <a:endParaRPr lang="en-US" sz="2400" dirty="0" smtClean="0">
              <a:solidFill>
                <a:schemeClr val="tx1"/>
              </a:solidFill>
              <a:highlight>
                <a:srgbClr val="80808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highlight>
                  <a:srgbClr val="808080"/>
                </a:highlight>
                <a:latin typeface="Garamond" panose="02020404030301010803" pitchFamily="18" charset="0"/>
              </a:rPr>
              <a:t>It aims to create an interactive desktop application that enhances user experience through structured layout design.</a:t>
            </a:r>
            <a:endParaRPr lang="en-US" sz="2400" dirty="0">
              <a:solidFill>
                <a:schemeClr val="tx1"/>
              </a:solidFill>
              <a:highlight>
                <a:srgbClr val="80808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6345555" cy="821690"/>
          </a:xfrm>
        </p:spPr>
        <p:txBody>
          <a:bodyPr/>
          <a:lstStyle/>
          <a:p>
            <a:r>
              <a:rPr lang="en-US" sz="3600" b="1" u="sng" dirty="0" smtClean="0">
                <a:latin typeface="Garamond" panose="02020404030301010803" pitchFamily="18" charset="0"/>
              </a:rPr>
              <a:t>Core Functions:</a:t>
            </a:r>
            <a:endParaRPr lang="en-US" sz="3600" b="1" u="sng" dirty="0" smtClean="0">
              <a:latin typeface="Garamond" panose="02020404030301010803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5" b="17575"/>
          <a:stretch>
            <a:fillRect/>
          </a:stretch>
        </p:blipFill>
        <p:spPr>
          <a:xfrm>
            <a:off x="2944177" y="2423760"/>
            <a:ext cx="8915400" cy="3854970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8950" y="821690"/>
            <a:ext cx="6542405" cy="4250055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accent1"/>
                </a:solidFill>
                <a:effectLst/>
                <a:latin typeface="Garamond" panose="02020404030301010803" pitchFamily="18" charset="0"/>
              </a:rPr>
              <a:t>A scientific calculator built with </a:t>
            </a:r>
            <a:r>
              <a:rPr lang="en-US" sz="2400" dirty="0">
                <a:solidFill>
                  <a:schemeClr val="accent1"/>
                </a:solidFill>
                <a:effectLst/>
                <a:latin typeface="Garamond" panose="02020404030301010803" pitchFamily="18" charset="0"/>
                <a:hlinkClick r:id="rId2"/>
              </a:rPr>
              <a:t>Python’s </a:t>
            </a:r>
            <a:r>
              <a:rPr lang="en-US" sz="2400" dirty="0" err="1">
                <a:solidFill>
                  <a:schemeClr val="accent1"/>
                </a:solidFill>
                <a:effectLst/>
                <a:latin typeface="Garamond" panose="02020404030301010803" pitchFamily="18" charset="0"/>
                <a:hlinkClick r:id="rId2"/>
              </a:rPr>
              <a:t>Tkinter</a:t>
            </a:r>
            <a:r>
              <a:rPr lang="en-US" sz="2400" dirty="0">
                <a:solidFill>
                  <a:schemeClr val="accent1"/>
                </a:solidFill>
                <a:effectLst/>
                <a:latin typeface="Garamond" panose="02020404030301010803" pitchFamily="18" charset="0"/>
                <a:hlinkClick r:id="rId2"/>
              </a:rPr>
              <a:t> library</a:t>
            </a:r>
            <a:r>
              <a:rPr lang="en-US" sz="2400" dirty="0">
                <a:solidFill>
                  <a:schemeClr val="accent1"/>
                </a:solidFill>
                <a:latin typeface="Garamond" panose="02020404030301010803" pitchFamily="18" charset="0"/>
              </a:rPr>
              <a:t> </a:t>
            </a:r>
            <a:r>
              <a:rPr lang="en-US" sz="2400" dirty="0" smtClean="0">
                <a:solidFill>
                  <a:schemeClr val="accent1"/>
                </a:solidFill>
                <a:latin typeface="Garamond" panose="02020404030301010803" pitchFamily="18" charset="0"/>
              </a:rPr>
              <a:t>combines standard </a:t>
            </a:r>
            <a:r>
              <a:rPr lang="en-US" sz="2400" dirty="0">
                <a:solidFill>
                  <a:schemeClr val="accent1"/>
                </a:solidFill>
                <a:latin typeface="Garamond" panose="02020404030301010803" pitchFamily="18" charset="0"/>
              </a:rPr>
              <a:t>GUI management with advanced mathematical logic. Its core functions </a:t>
            </a:r>
            <a:r>
              <a:rPr lang="en-US" sz="2400" dirty="0" smtClean="0">
                <a:solidFill>
                  <a:schemeClr val="accent1"/>
                </a:solidFill>
                <a:latin typeface="Garamond" panose="02020404030301010803" pitchFamily="18" charset="0"/>
              </a:rPr>
              <a:t>are typically </a:t>
            </a:r>
            <a:r>
              <a:rPr lang="en-US" sz="2400" dirty="0">
                <a:solidFill>
                  <a:schemeClr val="accent1"/>
                </a:solidFill>
                <a:latin typeface="Garamond" panose="02020404030301010803" pitchFamily="18" charset="0"/>
              </a:rPr>
              <a:t>categorized into interface management, input handling, and computational logic.</a:t>
            </a:r>
            <a:endParaRPr lang="en-IN" sz="2400" dirty="0">
              <a:solidFill>
                <a:schemeClr val="accent1"/>
              </a:solidFill>
              <a:latin typeface="Garamond" panose="02020404030301010803" pitchFamily="18" charset="0"/>
            </a:endParaRPr>
          </a:p>
          <a:p>
            <a:endParaRPr lang="en-IN" sz="2400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6422010" cy="961534"/>
          </a:xfrm>
        </p:spPr>
        <p:txBody>
          <a:bodyPr/>
          <a:lstStyle/>
          <a:p>
            <a:r>
              <a:rPr lang="en-US" sz="3600" b="1" u="sng" dirty="0" smtClean="0">
                <a:latin typeface="Garamond" panose="02020404030301010803" pitchFamily="18" charset="0"/>
              </a:rPr>
              <a:t>Core Functions:</a:t>
            </a:r>
            <a:endParaRPr lang="en-US" sz="3600" b="1" u="sng" dirty="0" smtClean="0">
              <a:latin typeface="Garamond" panose="02020404030301010803" pitchFamily="18" charset="0"/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75" b="17575"/>
          <a:stretch>
            <a:fillRect/>
          </a:stretch>
        </p:blipFill>
        <p:spPr>
          <a:xfrm>
            <a:off x="2317750" y="2639695"/>
            <a:ext cx="9754870" cy="421830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085" y="961390"/>
            <a:ext cx="11215370" cy="3365500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It includes all the </a:t>
            </a:r>
            <a:endParaRPr lang="en-US" sz="2400" dirty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Basic Airthmatic O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perations: (+, </a:t>
            </a:r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-, *, 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/).</a:t>
            </a:r>
            <a:endParaRPr lang="en-US" sz="2400" dirty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Scientific/Trigonometric, Logarithmic functions: like </a:t>
            </a:r>
            <a:r>
              <a:rPr lang="en-US" sz="2400" dirty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(sin, cos, 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tan, log, inverse, power, root function, cube root, sqrt etc.)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Graph Plotting  - </a:t>
            </a:r>
            <a:r>
              <a:rPr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Supports functions like sin(x), x^2</a:t>
            </a:r>
            <a:r>
              <a:rPr lang="en-US"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 </a:t>
            </a:r>
            <a:r>
              <a:rPr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Uses NumPy for calculations</a:t>
            </a:r>
            <a:r>
              <a:rPr lang="en-US"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Matplotlib for visualization</a:t>
            </a:r>
            <a:r>
              <a:rPr lang="en-US" sz="240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.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Memory Functions like 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M+ : Add to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M- : Subtract from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MR : Recall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MC : Clear memory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.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History Pannel.</a:t>
            </a:r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</a:rPr>
              <a:t>Modes Used -</a:t>
            </a:r>
            <a:r>
              <a:rPr lang="en-US" sz="2400" dirty="0" smtClean="0">
                <a:solidFill>
                  <a:schemeClr val="tx1"/>
                </a:solidFill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</a:rPr>
              <a:t> 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DEG mode (Degrees)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RAD mode (Radians)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,</a:t>
            </a:r>
            <a:r>
              <a:rPr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 Toggle between modes easily</a:t>
            </a:r>
            <a:r>
              <a:rPr lang="en-US" sz="2400">
                <a:highlight>
                  <a:srgbClr val="C0C0C0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.</a:t>
            </a:r>
            <a:endParaRPr sz="2400">
              <a:highlight>
                <a:srgbClr val="C0C0C0"/>
              </a:highlight>
              <a:sym typeface="+mn-ea"/>
            </a:endParaRPr>
          </a:p>
          <a:p>
            <a:pPr algn="just"/>
            <a:endParaRPr lang="en-US" sz="2400" dirty="0" smtClean="0">
              <a:solidFill>
                <a:schemeClr val="tx1"/>
              </a:solidFill>
              <a:highlight>
                <a:srgbClr val="C0C0C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20511"/>
            <a:ext cx="10394707" cy="964097"/>
          </a:xfrm>
        </p:spPr>
        <p:txBody>
          <a:bodyPr>
            <a:noAutofit/>
          </a:bodyPr>
          <a:lstStyle/>
          <a:p>
            <a:r>
              <a:rPr lang="en-US" sz="4000" b="1" u="sng" dirty="0">
                <a:latin typeface="Garamond" panose="02020404030301010803" pitchFamily="18" charset="0"/>
              </a:rPr>
              <a:t>Facing Challenges and Learning:</a:t>
            </a:r>
            <a:endParaRPr lang="en-IN" sz="4000" b="1" u="sn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1284608"/>
            <a:ext cx="4856158" cy="778788"/>
          </a:xfrm>
        </p:spPr>
        <p:txBody>
          <a:bodyPr/>
          <a:lstStyle/>
          <a:p>
            <a:r>
              <a:rPr lang="en-US" sz="3200" b="1" u="sng" dirty="0" smtClean="0">
                <a:solidFill>
                  <a:schemeClr val="accent2"/>
                </a:solidFill>
                <a:latin typeface="Garamond" panose="02020404030301010803" pitchFamily="18" charset="0"/>
              </a:rPr>
              <a:t>Challenges:</a:t>
            </a:r>
            <a:endParaRPr lang="en-US" sz="3200" b="1" u="sng" dirty="0" smtClean="0">
              <a:solidFill>
                <a:schemeClr val="accent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248535"/>
            <a:ext cx="5088890" cy="4272915"/>
          </a:xfrm>
        </p:spPr>
        <p:txBody>
          <a:bodyPr>
            <a:normAutofit fontScale="90000" lnSpcReduction="20000"/>
          </a:bodyPr>
          <a:lstStyle/>
          <a:p>
            <a:pPr algn="just"/>
            <a:r>
              <a:rPr lang="en-IN" sz="2800" dirty="0">
                <a:latin typeface="Garamond" panose="02020404030301010803" pitchFamily="18" charset="0"/>
              </a:rPr>
              <a:t>Keyboard </a:t>
            </a:r>
            <a:r>
              <a:rPr lang="en-US" altLang="en-IN" sz="2800" dirty="0">
                <a:latin typeface="Garamond" panose="02020404030301010803" pitchFamily="18" charset="0"/>
              </a:rPr>
              <a:t>I</a:t>
            </a:r>
            <a:r>
              <a:rPr lang="en-IN" sz="2800" dirty="0">
                <a:latin typeface="Garamond" panose="02020404030301010803" pitchFamily="18" charset="0"/>
              </a:rPr>
              <a:t>nput </a:t>
            </a:r>
            <a:r>
              <a:rPr lang="en-US" altLang="en-IN" sz="2800" dirty="0">
                <a:latin typeface="Garamond" panose="02020404030301010803" pitchFamily="18" charset="0"/>
              </a:rPr>
              <a:t>H</a:t>
            </a:r>
            <a:r>
              <a:rPr lang="en-IN" sz="2800" dirty="0">
                <a:latin typeface="Garamond" panose="02020404030301010803" pitchFamily="18" charset="0"/>
              </a:rPr>
              <a:t>andling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r>
              <a:rPr lang="en-IN" sz="2800" dirty="0">
                <a:latin typeface="Garamond" panose="02020404030301010803" pitchFamily="18" charset="0"/>
              </a:rPr>
              <a:t> 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Expression evaluation errors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GUI layout management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r>
              <a:rPr lang="en-IN" sz="2800" dirty="0">
                <a:latin typeface="Garamond" panose="02020404030301010803" pitchFamily="18" charset="0"/>
              </a:rPr>
              <a:t> 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Debugging indentation issues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endParaRPr 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IN" sz="2800" dirty="0">
                <a:latin typeface="Garamond" panose="02020404030301010803" pitchFamily="18" charset="0"/>
              </a:rPr>
              <a:t>Managing global variables</a:t>
            </a:r>
            <a:r>
              <a:rPr lang="en-US" altLang="en-IN" sz="2800" dirty="0">
                <a:latin typeface="Garamond" panose="02020404030301010803" pitchFamily="18" charset="0"/>
              </a:rPr>
              <a:t>.</a:t>
            </a:r>
            <a:endParaRPr lang="en-US" altLang="en-IN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Graph Plotting Issues.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Scientific Function Integration.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State Management (ON/OFF, Memory, Mode).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r>
              <a:rPr lang="en-US" altLang="en-US" sz="2800" dirty="0">
                <a:latin typeface="Garamond" panose="02020404030301010803" pitchFamily="18" charset="0"/>
              </a:rPr>
              <a:t>Handling User Input Errors.</a:t>
            </a:r>
            <a:endParaRPr lang="en-US" altLang="en-US" sz="2800" dirty="0">
              <a:latin typeface="Garamond" panose="02020404030301010803" pitchFamily="18" charset="0"/>
            </a:endParaRPr>
          </a:p>
          <a:p>
            <a:pPr algn="just"/>
            <a:endParaRPr lang="en-IN" sz="2800" dirty="0">
              <a:latin typeface="Garamond" panose="02020404030301010803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335" y="1054735"/>
            <a:ext cx="3999230" cy="715645"/>
          </a:xfrm>
        </p:spPr>
        <p:txBody>
          <a:bodyPr/>
          <a:lstStyle/>
          <a:p>
            <a:r>
              <a:rPr lang="en-US" sz="3200" b="1" u="sng" dirty="0" smtClean="0">
                <a:solidFill>
                  <a:schemeClr val="accent2"/>
                </a:solidFill>
                <a:latin typeface="Garamond" panose="02020404030301010803" pitchFamily="18" charset="0"/>
              </a:rPr>
              <a:t>Learnings:</a:t>
            </a:r>
            <a:endParaRPr lang="en-US" sz="3200" b="1" u="sng" dirty="0" smtClean="0">
              <a:solidFill>
                <a:schemeClr val="accent2"/>
              </a:solidFill>
              <a:latin typeface="Garamond" panose="02020404030301010803" pitchFamily="18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sz="quarter" idx="4"/>
          </p:nvPr>
        </p:nvSpPr>
        <p:spPr bwMode="auto">
          <a:xfrm>
            <a:off x="6085840" y="1980565"/>
            <a:ext cx="4351020" cy="3738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 err="1">
                <a:latin typeface="Garamond" panose="02020404030301010803" pitchFamily="18" charset="0"/>
              </a:rPr>
              <a:t>  </a:t>
            </a:r>
            <a:r>
              <a:rPr lang="en-US" altLang="en-US" sz="2400" dirty="0" err="1">
                <a:latin typeface="Garamond" panose="02020404030301010803" pitchFamily="18" charset="0"/>
              </a:rPr>
              <a:t>Tkinter</a:t>
            </a:r>
            <a:r>
              <a:rPr lang="en-US" altLang="en-US" sz="2400" dirty="0">
                <a:latin typeface="Garamond" panose="02020404030301010803" pitchFamily="18" charset="0"/>
              </a:rPr>
              <a:t> GUI development Skills.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Event handling &amp; keyboard binding.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Error handling (try-except) 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Scientific calculations in Python.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Debugging &amp; problem-solving.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Mathematical Computation in Python.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Code Organization.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Feature Integration.</a:t>
            </a:r>
            <a:endParaRPr lang="en-US" altLang="en-US" sz="2400" dirty="0">
              <a:latin typeface="Garamond" panose="020204040303010108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latin typeface="Garamond" panose="02020404030301010803" pitchFamily="18" charset="0"/>
              </a:rPr>
              <a:t>  Expression Handling &amp; Logic Building.</a:t>
            </a:r>
            <a:endParaRPr lang="en-US" altLang="en-US" sz="2400" dirty="0"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235" y="193675"/>
            <a:ext cx="10396855" cy="1540510"/>
          </a:xfrm>
        </p:spPr>
        <p:txBody>
          <a:bodyPr/>
          <a:lstStyle/>
          <a:p>
            <a:pPr algn="l"/>
            <a:r>
              <a:rPr lang="en-US" sz="4800" b="1" u="sng" dirty="0" smtClean="0">
                <a:latin typeface="Garamond" panose="02020404030301010803" pitchFamily="18" charset="0"/>
              </a:rPr>
              <a:t>Solutions !</a:t>
            </a:r>
            <a:endParaRPr lang="en-US" sz="4800" b="1" u="sng" dirty="0" smtClean="0">
              <a:latin typeface="Garamond" panose="02020404030301010803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0085" y="2070735"/>
            <a:ext cx="6346825" cy="39579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Used try-except for safe evaluation.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Fixed keyboard binding and event handling.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Structured GUI using frames.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Implemented DEG/RAD conversion.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Corrected indentation and syntax errors.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Added history storage and reuse.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State Management (ON/OFF, Memory, Mode).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Validated user input properly. 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Handling User Input Errors.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Fixing Graph Plotting Issues.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Keyboard Input Support.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0000"/>
                </a:highlight>
                <a:latin typeface="Garamond" panose="02020404030301010803" pitchFamily="18" charset="0"/>
              </a:rPr>
              <a:t>Corrected all functions and commands and used them safely.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highlight>
                <a:srgbClr val="FF0000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433634"/>
            <a:ext cx="10396882" cy="575034"/>
          </a:xfrm>
        </p:spPr>
        <p:txBody>
          <a:bodyPr>
            <a:noAutofit/>
          </a:bodyPr>
          <a:lstStyle/>
          <a:p>
            <a:r>
              <a:rPr lang="en-US" sz="3600" b="1" u="sng" dirty="0" smtClean="0">
                <a:latin typeface="Garamond" panose="02020404030301010803" pitchFamily="18" charset="0"/>
              </a:rPr>
              <a:t>Conclusions:</a:t>
            </a:r>
            <a:endParaRPr lang="en-IN" sz="3600" b="1" u="sng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35075"/>
            <a:ext cx="10394950" cy="5622925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The </a:t>
            </a:r>
            <a:r>
              <a:rPr lang="en-US" sz="2000" b="1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Advanced Scientific Calculator</a:t>
            </a:r>
            <a:r>
              <a:rPr lang="en-US" sz="20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 project successfully demonstrates how Python can be used to build a fully functional and interactive GUI application using </a:t>
            </a:r>
            <a:r>
              <a:rPr lang="en-US" sz="2000" dirty="0" err="1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Tkinter</a:t>
            </a:r>
            <a:r>
              <a:rPr lang="en-US" sz="20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. </a:t>
            </a:r>
            <a:r>
              <a:rPr lang="en-US" altLang="en-US" sz="20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It integrates GUI design (Tkinter) with powerful libraries like NumPy and Matplotlib for calculations and graph plotting</a:t>
            </a:r>
            <a:r>
              <a:rPr lang="en-US" altLang="en-US" sz="2000">
                <a:highlight>
                  <a:srgbClr val="FF00FF"/>
                </a:highlight>
                <a:sym typeface="+mn-ea"/>
              </a:rPr>
              <a:t>.</a:t>
            </a:r>
            <a:endParaRPr lang="en-US" altLang="en-US" sz="2000">
              <a:highlight>
                <a:srgbClr val="FF00FF"/>
              </a:highlight>
            </a:endParaRPr>
          </a:p>
          <a:p>
            <a:pPr algn="just"/>
            <a:r>
              <a:rPr lang="en-US" sz="2000" dirty="0" smtClean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</a:rPr>
              <a:t>The calculator is capable of performing both basic and advanced scientific operations, making it a versatile and practical tool. </a:t>
            </a:r>
            <a:endParaRPr lang="en-US" sz="2000" dirty="0" smtClean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</a:endParaRPr>
          </a:p>
          <a:p>
            <a:pPr algn="just"/>
            <a:r>
              <a:rPr lang="en-US" altLang="en-US" sz="20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Features like history tracking, memory functions, and DEG/RAD modes improve usability and user experience.</a:t>
            </a:r>
            <a:endParaRPr lang="en-US" altLang="en-US" sz="20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  <a:sym typeface="+mn-ea"/>
            </a:endParaRPr>
          </a:p>
          <a:p>
            <a:pPr algn="just"/>
            <a:r>
              <a:rPr lang="en-US" altLang="en-US" sz="20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The project enhances understanding of event-driven programming, user interface design, and mathematical computation.</a:t>
            </a:r>
            <a:endParaRPr lang="en-US" altLang="en-US" sz="20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  <a:sym typeface="+mn-ea"/>
            </a:endParaRPr>
          </a:p>
          <a:p>
            <a:pPr algn="just"/>
            <a:r>
              <a:rPr lang="en-US" altLang="en-US" sz="2000"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It can be further improved by adding features like equation solving, better UI design, or mobile app integration.</a:t>
            </a:r>
            <a:endParaRPr lang="en-US" altLang="en-US" sz="20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tx1"/>
                </a:solidFill>
                <a:highlight>
                  <a:srgbClr val="FF00FF"/>
                </a:highlight>
                <a:latin typeface="Garamond" panose="02020404030301010803" pitchFamily="18" charset="0"/>
                <a:cs typeface="Garamond" panose="02020404030301010803" pitchFamily="18" charset="0"/>
                <a:sym typeface="+mn-ea"/>
              </a:rPr>
              <a:t>In conclusion, this project provided valuable hands-on experience in combining programming logic with graphical interface design. It serves as a strong foundation for developing more advanced applications in the future, such as data visualization tools or AI-based systems.</a:t>
            </a:r>
            <a:endParaRPr lang="en-US" sz="20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marL="0" indent="0" algn="just">
              <a:buNone/>
            </a:pPr>
            <a:endParaRPr lang="en-US" alt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  <a:p>
            <a:pPr algn="just"/>
            <a:endParaRPr lang="en-US" altLang="en-US" sz="2400"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  <a:sym typeface="+mn-ea"/>
            </a:endParaRPr>
          </a:p>
          <a:p>
            <a:pPr algn="just"/>
            <a:endParaRPr lang="en-US" sz="2400" dirty="0">
              <a:solidFill>
                <a:schemeClr val="tx1"/>
              </a:solidFill>
              <a:highlight>
                <a:srgbClr val="FF00FF"/>
              </a:highlight>
              <a:latin typeface="Garamond" panose="02020404030301010803" pitchFamily="18" charset="0"/>
              <a:cs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297" y="806255"/>
            <a:ext cx="11233132" cy="3277421"/>
          </a:xfrm>
        </p:spPr>
        <p:txBody>
          <a:bodyPr>
            <a:normAutofit/>
          </a:bodyPr>
          <a:lstStyle/>
          <a:p>
            <a: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						</a:t>
            </a:r>
            <a:b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</a:b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	</a:t>
            </a:r>
            <a: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" panose="02020404030301010803" pitchFamily="18" charset="0"/>
              </a:rPr>
              <a:t>				</a:t>
            </a:r>
            <a: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  <a:t>	</a:t>
            </a:r>
            <a:br>
              <a:rPr lang="en-US" sz="4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</a:br>
            <a:r>
              <a:rPr lang="en-US" sz="4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Garamond" panose="02020404030301010803" pitchFamily="18" charset="0"/>
              </a:rPr>
              <a:t>	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Garamond" panose="02020404030301010803" pitchFamily="18" charset="0"/>
              </a:rPr>
              <a:t>Thankyou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</a:rPr>
              <a:t> 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00"/>
                </a:highlight>
                <a:latin typeface="Garamond" panose="02020404030301010803" pitchFamily="18" charset="0"/>
              </a:rPr>
              <a:t>for your time !</a:t>
            </a:r>
            <a:r>
              <a:rPr lang="en-US" sz="8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  <a:t> </a:t>
            </a:r>
            <a:r>
              <a:rPr lang="en-US" sz="60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aramond" panose="02020404030301010803" pitchFamily="18" charset="0"/>
              </a:rPr>
              <a:t> </a:t>
            </a:r>
            <a:endParaRPr lang="en-US" sz="6000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00FF"/>
              </a:highlight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4117</Words>
  <Application>WPS Presentation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Wingdings 3</vt:lpstr>
      <vt:lpstr>Arial</vt:lpstr>
      <vt:lpstr>Garamond</vt:lpstr>
      <vt:lpstr>Microsoft YaHei</vt:lpstr>
      <vt:lpstr>Arial Unicode MS</vt:lpstr>
      <vt:lpstr>Century Gothic</vt:lpstr>
      <vt:lpstr>Calibri</vt:lpstr>
      <vt:lpstr>Wisp</vt:lpstr>
      <vt:lpstr>Project on   Advanced -Scientific -Calculator!  </vt:lpstr>
      <vt:lpstr>Introduction to the project</vt:lpstr>
      <vt:lpstr>Project Objective</vt:lpstr>
      <vt:lpstr>Core Functions:</vt:lpstr>
      <vt:lpstr>Core Functions:</vt:lpstr>
      <vt:lpstr>Facing Challenges and Learning:</vt:lpstr>
      <vt:lpstr>Solutions !</vt:lpstr>
      <vt:lpstr>Conclusions:</vt:lpstr>
      <vt:lpstr>						 						 	Thankyou for your time !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shair iram</cp:lastModifiedBy>
  <cp:revision>21</cp:revision>
  <dcterms:created xsi:type="dcterms:W3CDTF">2026-05-02T08:51:00Z</dcterms:created>
  <dcterms:modified xsi:type="dcterms:W3CDTF">2026-05-06T10:05:09Z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1033-12.1.0.25862</vt:lpwstr>
  </property>
  <property fmtid="{D5CDD505-2E9C-101B-9397-08002B2CF9AE}" pid="3" name="ICV">
    <vt:lpwstr>B6A7381E73F84022A36DD8640D2C0D71_12</vt:lpwstr>
  </property>
</Properties>
</file>